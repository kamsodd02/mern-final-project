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9144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189" indent="0" algn="ctr">
              <a:buNone/>
              <a:defRPr sz="1600"/>
            </a:lvl2pPr>
            <a:lvl3pPr marL="914377" indent="0" algn="ctr">
              <a:buNone/>
              <a:defRPr sz="16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6243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996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9144000" cy="45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18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0237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128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2">
                    <a:lumMod val="75000"/>
                  </a:schemeClr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marL="0" lvl="0" indent="0" algn="l" defTabSz="914377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706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432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121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51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3012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126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5282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2063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377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0000"/>
              <a:lumOff val="10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377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57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57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57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57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57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57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57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57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83C5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800" b="1">
                <a:solidFill>
                  <a:srgbClr val="FFB450"/>
                </a:solidFill>
              </a:defRPr>
            </a:pPr>
            <a:r>
              <a:t>MERN Questionnaire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190182" y="2393390"/>
            <a:ext cx="887698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2800">
                <a:solidFill>
                  <a:srgbClr val="E6E6E6"/>
                </a:solidFill>
              </a:defRPr>
            </a:pPr>
            <a:r>
              <a:rPr dirty="0" smtClean="0"/>
              <a:t>• </a:t>
            </a:r>
            <a:r>
              <a:rPr dirty="0"/>
              <a:t>AI-Powered Questionnaire, Analytics &amp; Insights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83C5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Arial Black" panose="020B0A040201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992034" y="573586"/>
            <a:ext cx="4132991" cy="12926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ctr">
              <a:defRPr sz="4800" b="1">
                <a:solidFill>
                  <a:srgbClr val="FFB450"/>
                </a:solidFill>
              </a:defRPr>
            </a:pPr>
            <a:r>
              <a:rPr sz="6000" dirty="0"/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3097" y="2439833"/>
            <a:ext cx="814378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800">
                <a:solidFill>
                  <a:srgbClr val="E6E6E6"/>
                </a:solidFill>
              </a:defRPr>
            </a:pPr>
            <a:r>
              <a:rPr dirty="0" smtClean="0"/>
              <a:t>• </a:t>
            </a:r>
            <a:r>
              <a:rPr dirty="0"/>
              <a:t>Organizations struggle with outdated tools, poor analytics, lack of automation, and slow decision-making.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83C5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712794" y="274320"/>
            <a:ext cx="5310236" cy="11079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ctr">
              <a:defRPr sz="4800" b="1">
                <a:solidFill>
                  <a:srgbClr val="FFB450"/>
                </a:solidFill>
              </a:defRPr>
            </a:pPr>
            <a:r>
              <a:rPr dirty="0"/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2012" y="2300158"/>
            <a:ext cx="867997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800">
                <a:solidFill>
                  <a:srgbClr val="E6E6E6"/>
                </a:solidFill>
              </a:defRPr>
            </a:pPr>
            <a:r>
              <a:rPr dirty="0" smtClean="0"/>
              <a:t>• </a:t>
            </a:r>
            <a:r>
              <a:rPr dirty="0"/>
              <a:t>AI-enabled survey system with real-time insights, exports, multi-channel distribution, and collaboration.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83C5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800" b="1">
                <a:solidFill>
                  <a:srgbClr val="FFB450"/>
                </a:solidFill>
              </a:defRPr>
            </a:pPr>
            <a: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lvl="1">
              <a:defRPr sz="2800">
                <a:solidFill>
                  <a:srgbClr val="E6E6E6"/>
                </a:solidFill>
              </a:defRPr>
            </a:pPr>
            <a:r>
              <a:t>• Drag-and-drop builder</a:t>
            </a:r>
          </a:p>
          <a:p>
            <a:pPr lvl="1">
              <a:defRPr sz="2800">
                <a:solidFill>
                  <a:srgbClr val="E6E6E6"/>
                </a:solidFill>
              </a:defRPr>
            </a:pPr>
            <a:r>
              <a:t>• Real-time tracking</a:t>
            </a:r>
          </a:p>
          <a:p>
            <a:pPr lvl="1">
              <a:defRPr sz="2800">
                <a:solidFill>
                  <a:srgbClr val="E6E6E6"/>
                </a:solidFill>
              </a:defRPr>
            </a:pPr>
            <a:r>
              <a:t>• Conditional logic</a:t>
            </a:r>
          </a:p>
          <a:p>
            <a:pPr lvl="1">
              <a:defRPr sz="2800">
                <a:solidFill>
                  <a:srgbClr val="E6E6E6"/>
                </a:solidFill>
              </a:defRPr>
            </a:pPr>
            <a:r>
              <a:t>• Excel/PDF export</a:t>
            </a:r>
          </a:p>
          <a:p>
            <a:pPr lvl="1">
              <a:defRPr sz="2800">
                <a:solidFill>
                  <a:srgbClr val="E6E6E6"/>
                </a:solidFill>
              </a:defRPr>
            </a:pPr>
            <a:r>
              <a:t>• Multi-format sharing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83C5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800" b="1">
                <a:solidFill>
                  <a:srgbClr val="FFB450"/>
                </a:solidFill>
              </a:defRPr>
            </a:pPr>
            <a:r>
              <a:t>AI &amp;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lvl="1">
              <a:defRPr sz="2800">
                <a:solidFill>
                  <a:srgbClr val="E6E6E6"/>
                </a:solidFill>
              </a:defRPr>
            </a:pPr>
            <a:r>
              <a:t>• Sentiment analysis</a:t>
            </a:r>
          </a:p>
          <a:p>
            <a:pPr lvl="1">
              <a:defRPr sz="2800">
                <a:solidFill>
                  <a:srgbClr val="E6E6E6"/>
                </a:solidFill>
              </a:defRPr>
            </a:pPr>
            <a:r>
              <a:t>• Trend prediction</a:t>
            </a:r>
          </a:p>
          <a:p>
            <a:pPr lvl="1">
              <a:defRPr sz="2800">
                <a:solidFill>
                  <a:srgbClr val="E6E6E6"/>
                </a:solidFill>
              </a:defRPr>
            </a:pPr>
            <a:r>
              <a:t>• Automated insights</a:t>
            </a:r>
          </a:p>
          <a:p>
            <a:pPr lvl="1">
              <a:defRPr sz="2800">
                <a:solidFill>
                  <a:srgbClr val="E6E6E6"/>
                </a:solidFill>
              </a:defRPr>
            </a:pPr>
            <a:r>
              <a:t>• Topic detection (NLP)</a:t>
            </a:r>
          </a:p>
          <a:p>
            <a:pPr lvl="1">
              <a:defRPr sz="2800">
                <a:solidFill>
                  <a:srgbClr val="E6E6E6"/>
                </a:solidFill>
              </a:defRPr>
            </a:pPr>
            <a:r>
              <a:t>• Intelligent suggestions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83C5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800" b="1">
                <a:solidFill>
                  <a:srgbClr val="FFB450"/>
                </a:solidFill>
              </a:defRPr>
            </a:pPr>
            <a:r>
              <a:t>Collaboration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lvl="1">
              <a:defRPr sz="2800">
                <a:solidFill>
                  <a:srgbClr val="E6E6E6"/>
                </a:solidFill>
              </a:defRPr>
            </a:pPr>
            <a:r>
              <a:t>• Workspaces</a:t>
            </a:r>
          </a:p>
          <a:p>
            <a:pPr lvl="1">
              <a:defRPr sz="2800">
                <a:solidFill>
                  <a:srgbClr val="E6E6E6"/>
                </a:solidFill>
              </a:defRPr>
            </a:pPr>
            <a:r>
              <a:t>• Roles &amp; permissions</a:t>
            </a:r>
          </a:p>
          <a:p>
            <a:pPr lvl="1">
              <a:defRPr sz="2800">
                <a:solidFill>
                  <a:srgbClr val="E6E6E6"/>
                </a:solidFill>
              </a:defRPr>
            </a:pPr>
            <a:r>
              <a:t>• Audit logs</a:t>
            </a:r>
          </a:p>
          <a:p>
            <a:pPr lvl="1">
              <a:defRPr sz="2800">
                <a:solidFill>
                  <a:srgbClr val="E6E6E6"/>
                </a:solidFill>
              </a:defRPr>
            </a:pPr>
            <a:r>
              <a:t>• Review workflows</a:t>
            </a:r>
          </a:p>
          <a:p>
            <a:pPr lvl="1">
              <a:defRPr sz="2800">
                <a:solidFill>
                  <a:srgbClr val="E6E6E6"/>
                </a:solidFill>
              </a:defRPr>
            </a:pPr>
            <a:r>
              <a:t>• Multi-language support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83C5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800" b="1">
                <a:solidFill>
                  <a:srgbClr val="FFB450"/>
                </a:solidFill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lvl="1">
              <a:defRPr sz="2800">
                <a:solidFill>
                  <a:srgbClr val="E6E6E6"/>
                </a:solidFill>
              </a:defRPr>
            </a:pPr>
            <a:r>
              <a:t>• React + Node.js + FastAPI + MongoDB + Redis</a:t>
            </a:r>
          </a:p>
          <a:p>
            <a:pPr lvl="1">
              <a:defRPr sz="2800">
                <a:solidFill>
                  <a:srgbClr val="E6E6E6"/>
                </a:solidFill>
              </a:defRPr>
            </a:pPr>
            <a:r>
              <a:t>• Docker + S3 + Vercel + Render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83C5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800" b="1">
                <a:solidFill>
                  <a:srgbClr val="FFB450"/>
                </a:solidFill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lvl="1">
              <a:defRPr sz="2800">
                <a:solidFill>
                  <a:srgbClr val="E6E6E6"/>
                </a:solidFill>
              </a:defRPr>
            </a:pPr>
            <a:r>
              <a:t>• 1. Creator builds survey</a:t>
            </a:r>
          </a:p>
          <a:p>
            <a:pPr lvl="1">
              <a:defRPr sz="2800">
                <a:solidFill>
                  <a:srgbClr val="E6E6E6"/>
                </a:solidFill>
              </a:defRPr>
            </a:pPr>
            <a:r>
              <a:t>• 2. Respondents answer</a:t>
            </a:r>
          </a:p>
          <a:p>
            <a:pPr lvl="1">
              <a:defRPr sz="2800">
                <a:solidFill>
                  <a:srgbClr val="E6E6E6"/>
                </a:solidFill>
              </a:defRPr>
            </a:pPr>
            <a:r>
              <a:t>• 3. Node stores</a:t>
            </a:r>
          </a:p>
          <a:p>
            <a:pPr lvl="1">
              <a:defRPr sz="2800">
                <a:solidFill>
                  <a:srgbClr val="E6E6E6"/>
                </a:solidFill>
              </a:defRPr>
            </a:pPr>
            <a:r>
              <a:t>• 4. AI analyzes</a:t>
            </a:r>
          </a:p>
          <a:p>
            <a:pPr lvl="1">
              <a:defRPr sz="2800">
                <a:solidFill>
                  <a:srgbClr val="E6E6E6"/>
                </a:solidFill>
              </a:defRPr>
            </a:pPr>
            <a:r>
              <a:t>• 5. Dashboards &amp; exports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83C5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800" b="1">
                <a:solidFill>
                  <a:srgbClr val="FFB450"/>
                </a:solidFill>
              </a:defRPr>
            </a:pPr>
            <a:r>
              <a:t>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lvl="1">
              <a:defRPr sz="2800">
                <a:solidFill>
                  <a:srgbClr val="E6E6E6"/>
                </a:solidFill>
              </a:defRPr>
            </a:pPr>
            <a:r>
              <a:t>• JWT authentication</a:t>
            </a:r>
          </a:p>
          <a:p>
            <a:pPr lvl="1">
              <a:defRPr sz="2800">
                <a:solidFill>
                  <a:srgbClr val="E6E6E6"/>
                </a:solidFill>
              </a:defRPr>
            </a:pPr>
            <a:r>
              <a:t>• RBAC</a:t>
            </a:r>
          </a:p>
          <a:p>
            <a:pPr lvl="1">
              <a:defRPr sz="2800">
                <a:solidFill>
                  <a:srgbClr val="E6E6E6"/>
                </a:solidFill>
              </a:defRPr>
            </a:pPr>
            <a:r>
              <a:t>• Bcrypt hashing</a:t>
            </a:r>
          </a:p>
          <a:p>
            <a:pPr lvl="1">
              <a:defRPr sz="2800">
                <a:solidFill>
                  <a:srgbClr val="E6E6E6"/>
                </a:solidFill>
              </a:defRPr>
            </a:pPr>
            <a:r>
              <a:t>• GDPR compliant</a:t>
            </a:r>
          </a:p>
          <a:p>
            <a:pPr lvl="1">
              <a:defRPr sz="2800">
                <a:solidFill>
                  <a:srgbClr val="E6E6E6"/>
                </a:solidFill>
              </a:defRPr>
            </a:pPr>
            <a:r>
              <a:t>• Encrypted data</a:t>
            </a:r>
          </a:p>
          <a:p>
            <a:pPr lvl="1">
              <a:defRPr sz="2800">
                <a:solidFill>
                  <a:srgbClr val="E6E6E6"/>
                </a:solidFill>
              </a:defRPr>
            </a:pPr>
            <a:r>
              <a:t>• Rate limiting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83C5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800" b="1">
                <a:solidFill>
                  <a:srgbClr val="FFB450"/>
                </a:solidFill>
              </a:defRPr>
            </a:pPr>
            <a:r>
              <a:t>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lvl="1">
              <a:defRPr sz="2800">
                <a:solidFill>
                  <a:srgbClr val="E6E6E6"/>
                </a:solidFill>
              </a:defRPr>
            </a:pPr>
            <a:r>
              <a:t>• Employee engagement</a:t>
            </a:r>
          </a:p>
          <a:p>
            <a:pPr lvl="1">
              <a:defRPr sz="2800">
                <a:solidFill>
                  <a:srgbClr val="E6E6E6"/>
                </a:solidFill>
              </a:defRPr>
            </a:pPr>
            <a:r>
              <a:t>• Customer feedback</a:t>
            </a:r>
          </a:p>
          <a:p>
            <a:pPr lvl="1">
              <a:defRPr sz="2800">
                <a:solidFill>
                  <a:srgbClr val="E6E6E6"/>
                </a:solidFill>
              </a:defRPr>
            </a:pPr>
            <a:r>
              <a:t>• Market surveys</a:t>
            </a:r>
          </a:p>
          <a:p>
            <a:pPr lvl="1">
              <a:defRPr sz="2800">
                <a:solidFill>
                  <a:srgbClr val="E6E6E6"/>
                </a:solidFill>
              </a:defRPr>
            </a:pPr>
            <a:r>
              <a:t>• Education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83C5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800" b="1">
                <a:solidFill>
                  <a:srgbClr val="FFB450"/>
                </a:solidFill>
              </a:defRPr>
            </a:pPr>
            <a:r>
              <a:t>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lvl="1">
              <a:defRPr sz="2800">
                <a:solidFill>
                  <a:srgbClr val="E6E6E6"/>
                </a:solidFill>
              </a:defRPr>
            </a:pPr>
            <a:r>
              <a:t>• Vercel (Frontend)</a:t>
            </a:r>
          </a:p>
          <a:p>
            <a:pPr lvl="1">
              <a:defRPr sz="2800">
                <a:solidFill>
                  <a:srgbClr val="E6E6E6"/>
                </a:solidFill>
              </a:defRPr>
            </a:pPr>
            <a:r>
              <a:t>• Render/AWS (Backend)</a:t>
            </a:r>
          </a:p>
          <a:p>
            <a:pPr lvl="1">
              <a:defRPr sz="2800">
                <a:solidFill>
                  <a:srgbClr val="E6E6E6"/>
                </a:solidFill>
              </a:defRPr>
            </a:pPr>
            <a:r>
              <a:t>• Railway (AI)</a:t>
            </a:r>
          </a:p>
          <a:p>
            <a:pPr lvl="1">
              <a:defRPr sz="2800">
                <a:solidFill>
                  <a:srgbClr val="E6E6E6"/>
                </a:solidFill>
              </a:defRPr>
            </a:pPr>
            <a:r>
              <a:t>• MongoDB Atlas</a:t>
            </a:r>
          </a:p>
          <a:p>
            <a:pPr lvl="1">
              <a:defRPr sz="2800">
                <a:solidFill>
                  <a:srgbClr val="E6E6E6"/>
                </a:solidFill>
              </a:defRPr>
            </a:pPr>
            <a:r>
              <a:t>• Docker Compose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83C5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800" b="1">
                <a:solidFill>
                  <a:srgbClr val="FFB450"/>
                </a:solidFill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lvl="1">
              <a:defRPr sz="2800">
                <a:solidFill>
                  <a:srgbClr val="E6E6E6"/>
                </a:solidFill>
              </a:defRPr>
            </a:pPr>
            <a:r>
              <a:t>• MVP → Advanced features → AI expansion → Enterprise integrations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83C5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800" b="1">
                <a:solidFill>
                  <a:srgbClr val="FFB450"/>
                </a:solidFill>
              </a:defRPr>
            </a:pPr>
            <a:r>
              <a:t>Competitive 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lvl="1">
              <a:defRPr sz="2800">
                <a:solidFill>
                  <a:srgbClr val="E6E6E6"/>
                </a:solidFill>
              </a:defRPr>
            </a:pPr>
            <a:r>
              <a:t>• AI-driven insights</a:t>
            </a:r>
          </a:p>
          <a:p>
            <a:pPr lvl="1">
              <a:defRPr sz="2800">
                <a:solidFill>
                  <a:srgbClr val="E6E6E6"/>
                </a:solidFill>
              </a:defRPr>
            </a:pPr>
            <a:r>
              <a:t>• Highly customizable</a:t>
            </a:r>
          </a:p>
          <a:p>
            <a:pPr lvl="1">
              <a:defRPr sz="2800">
                <a:solidFill>
                  <a:srgbClr val="E6E6E6"/>
                </a:solidFill>
              </a:defRPr>
            </a:pPr>
            <a:r>
              <a:t>• Fast &amp; scalable</a:t>
            </a:r>
          </a:p>
          <a:p>
            <a:pPr lvl="1">
              <a:defRPr sz="2800">
                <a:solidFill>
                  <a:srgbClr val="E6E6E6"/>
                </a:solidFill>
              </a:defRPr>
            </a:pPr>
            <a:r>
              <a:t>• Secure &amp; enterprise ready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83C5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800" b="1">
                <a:solidFill>
                  <a:srgbClr val="FFB450"/>
                </a:solidFill>
              </a:defRPr>
            </a:pPr>
            <a:r>
              <a:t>Call to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lvl="1">
              <a:defRPr sz="2800">
                <a:solidFill>
                  <a:srgbClr val="E6E6E6"/>
                </a:solidFill>
              </a:defRPr>
            </a:pPr>
            <a:r>
              <a:t>• Let’s build the future of intelligent surveys.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rgbClr val="2E2B21"/>
      </a:dk1>
      <a:lt1>
        <a:srgbClr val="FFFFFF"/>
      </a:lt1>
      <a:dk2>
        <a:srgbClr val="605B4F"/>
      </a:dk2>
      <a:lt2>
        <a:srgbClr val="D8D6BE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8000"/>
              </a:schemeClr>
              <a:schemeClr val="phClr">
                <a:shade val="89000"/>
                <a:satMod val="145000"/>
              </a:schemeClr>
            </a:duotone>
          </a:blip>
          <a:tile tx="0" ty="0" sx="32000" sy="32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</a:schemeClr>
              <a:schemeClr val="phClr">
                <a:shade val="95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090DCB5F-146D-478A-852A-34B16FE9F3A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8</TotalTime>
  <Words>245</Words>
  <Application>Microsoft Office PowerPoint</Application>
  <PresentationFormat>On-screen Show (4:3)</PresentationFormat>
  <Paragraphs>85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 Black</vt:lpstr>
      <vt:lpstr>Tw Cen MT</vt:lpstr>
      <vt:lpstr>Tw Cen MT Condensed</vt:lpstr>
      <vt:lpstr>Wingdings 3</vt:lpstr>
      <vt:lpstr>Integral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2025-11-20T00:46:02Z</dcterms:modified>
  <cp:category/>
</cp:coreProperties>
</file>